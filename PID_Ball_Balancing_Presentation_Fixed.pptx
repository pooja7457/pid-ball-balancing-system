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C9A905-2BDF-5644-3172-3D0CCFF7884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342700" y="6642100"/>
            <a:ext cx="15319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Cummins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PID Ball Balancing System</a:t>
            </a:r>
          </a:p>
          <a:p>
            <a:pPr>
              <a:defRPr sz="2800" b="0"/>
            </a:pPr>
            <a:r>
              <a:t>Ball-on-Beam Closed-Loop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PID Ball Balancing System</a:t>
            </a:r>
          </a:p>
          <a:p>
            <a:pPr algn="ctr">
              <a:spcBef>
                <a:spcPts val="1000"/>
              </a:spcBef>
              <a:defRPr sz="2800" b="0">
                <a:solidFill>
                  <a:srgbClr val="007ACC"/>
                </a:solidFill>
                <a:latin typeface="Calibri"/>
              </a:defRPr>
            </a:pPr>
            <a:r>
              <a:t>Ball-on-Beam Closed-Loop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Calibri"/>
              </a:defRPr>
            </a:pPr>
            <a:r>
              <a:t>Real-Time Control Implementation using Arduino Uno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Course: Design Lab 2</a:t>
            </a:r>
          </a:p>
          <a:p>
            <a:pPr algn="ctr"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Instructor: Dr. S.S. Padhee</a:t>
            </a:r>
          </a:p>
          <a:p>
            <a:pPr algn="ctr">
              <a:spcBef>
                <a:spcPts val="1000"/>
              </a:spcBef>
              <a:defRPr sz="1200"/>
            </a:pPr>
            <a:endParaRPr/>
          </a:p>
          <a:p>
            <a:pPr algn="ctr">
              <a:spcBef>
                <a:spcPts val="1000"/>
              </a:spcBef>
              <a:defRPr sz="1400" b="1">
                <a:solidFill>
                  <a:srgbClr val="007ACC"/>
                </a:solidFill>
                <a:latin typeface="Calibri"/>
              </a:defRPr>
            </a:pPr>
            <a:r>
              <a:t>Group Members:</a:t>
            </a:r>
          </a:p>
          <a:p>
            <a:pPr algn="ctr">
              <a:spcBef>
                <a:spcPts val="3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Pooja Pachhar (2023MEB1367)  |  Prabhreet Kaur (2023MEB1368)  |  Priyansh Gupta (2023MEB1369)</a:t>
            </a:r>
          </a:p>
          <a:p>
            <a:pPr algn="ctr">
              <a:spcBef>
                <a:spcPts val="3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Priyanshu Rai (2023MEB1370)  |  Rahil Gupta (2023MEB1371)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Design Lab 2 |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The ball-on-beam system is a canonical benchmark for control theory education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Inherently unstable in open loop — the ball will always roll off without active control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Non-linear dynamics make it an excellent testbed for controller design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Widely used in academia and industry for teaching feedback control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Balancing a ball on a beam demands continuous sensing and actuation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Perfect scenario to demonstrate a PID controller in real-time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Bridges the gap between theoretical control design and physical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Design, model, and implement a real-time PID control algorithm on Arduino Uno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Maintain a 25 mm ping pong ball at a user-defined setpoint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Achieve minimal overshoot (&lt; 10%) and fast settling time (&lt; 2.0 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63440"/>
            <a:ext cx="11247120" cy="457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333333"/>
                </a:solidFill>
                <a:latin typeface="Calibri"/>
              </a:defRPr>
            </a:pPr>
            <a:r>
              <a:t>Key Insight: The PID controller remains the most widely deployed control algorithm in industry — from chemical plants to robotics.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Design Lab 2 |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How We Made It — Hardware &amp;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60 cm acrylite beam pivoted at its center on a custom stand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Transparent acrylic channel for visual feedback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Pivot point allows ±20° angular deflection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ACTUATION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SG90 servo motor (180°, 5V) connected via mechanical linkage arm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Linkage converts servo rotation to beam inclination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PWM-controlled with 50 Hz refresh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SENSING &amp;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Sharp GP2Y0A21 IR sensor measures ball position via analog voltage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Arduino Uno microcontroller executes PID loop at 50 Hz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Sample period: Ts = 20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434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COMPONENTS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617720"/>
          <a:ext cx="530352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Arduino Uno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ATmega328P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Microcontroller / PID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Servo Motor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SG90, 180°, 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Beam actuation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IR Sensor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Sharp GP2Y0A21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Ball position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3" name="Picture 12" descr="WhatsApp Image 2026-05-01 at 19.21.4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318554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17920" y="57607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66666"/>
                </a:solidFill>
                <a:latin typeface="Calibri"/>
              </a:defRPr>
            </a:pPr>
            <a:r>
              <a:t>Fig. 1: Physical Ball-on-Beam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Design Lab 2 |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Methodology &amp; Mathematical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LAGRANGIAN DYNAMICS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1247120" cy="5029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A237E"/>
                </a:solidFill>
                <a:latin typeface="Cambria Math"/>
              </a:defRPr>
            </a:pPr>
            <a:r>
              <a:t>(m·r²/J + m)·ẍ = m·g·sin(α) − m·x·α̇²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3333"/>
                </a:solidFill>
                <a:latin typeface="Calibri"/>
              </a:defRPr>
            </a:pPr>
            <a:r>
              <a:t>Where: m = 0.025 kg  |  r = 0.0125 m  |  J = 2mr²/5  |  g = 9.81 m/s²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LINEARIZED PLANT TRANSFER FUNCTION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14600"/>
            <a:ext cx="11247120" cy="5029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A237E"/>
                </a:solidFill>
                <a:latin typeface="Cambria Math"/>
              </a:defRPr>
            </a:pPr>
            <a:r>
              <a:t>For small angles:  ẍ = (5g/7)·α(t)    ⟹    G_plant(s) = 7.0 / s²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11247120" cy="36576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856E04"/>
                </a:solidFill>
                <a:latin typeface="Calibri"/>
              </a:defRPr>
            </a:pPr>
            <a:r>
              <a:t>KEY INSIGHT: Double-integrating plant — inherently unstable. Requires derivative action for stabilization.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PID CONTROL LAW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5486400" cy="5029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88620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237E"/>
                </a:solidFill>
                <a:latin typeface="Cambria Math"/>
              </a:defRPr>
            </a:pPr>
            <a:r>
              <a:t>Continuous:  u(t) = Kp·e(t) + Ki·∫e dt + Kd·(de/dt)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486400" cy="5029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388620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237E"/>
                </a:solidFill>
                <a:latin typeface="Cambria Math"/>
              </a:defRPr>
            </a:pPr>
            <a:r>
              <a:t>Discrete:  u[k] = Kp·e[k] + Ki·Ts·Σe[i] + Kd·(e[k]−e[k−1])/Ts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3333"/>
                </a:solidFill>
                <a:latin typeface="Calibri"/>
              </a:defRPr>
            </a:pPr>
            <a:r>
              <a:t>Sample Period: Ts = 20 ms  |  Control Loop Frequency: 50 Hz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Design Lab 2 |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Calculations &amp; PID 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TUNING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Step 1: Ziegler-Nichols — Start with Ki = Kd = 0, increase Kp until sustained oscillation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Step 2: Record ultimate gain Ku and ultimate period Tu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Step 3: Apply ZN formulas: Kp = 0.6·Ku, Ki = 2·Kp/Tu, Kd = Kp·Tu/8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Step 4: Manual refinement — reduce Ki to limit windup; increase Kd to suppress overshoot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Step 5: Validate against targets: OS &lt; 10%, ts &lt; 2s, ess ≈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FINAL TUNED PARAMETERS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788920"/>
          <a:ext cx="5943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Symbol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Proportional Gain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Integral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Derivative Gain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Sample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Max Servo Deflection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u_max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±20°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0" y="2514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DESIGN TARGETS vs. ACHIEVED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0" y="2788920"/>
          <a:ext cx="48463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Achieved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Overshoot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&lt; 10%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A745"/>
                          </a:solidFill>
                        </a:defRPr>
                      </a:pPr>
                      <a:r>
                        <a:t>7.4% 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Settling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&lt; 2.0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A745"/>
                          </a:solidFill>
                        </a:defRPr>
                      </a:pPr>
                      <a:r>
                        <a:t>1.48 s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Steady-State Error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≈ 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A745"/>
                          </a:solidFill>
                        </a:defRPr>
                      </a:pPr>
                      <a:r>
                        <a:t>&lt; 0.3 cm 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297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EFFECT OF EACH PID 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Kp (Proportional): Reduces error; increases response speed. Too high → oscillatory.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Ki (Integral): Eliminates steady-state error. Too high → windup &amp; sluggishness.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Kd (Derivative): Predicts error trend; damps oscillation. Too high → noise sensitive.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Design Lab 2 |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Code Structure &amp;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SENSOR FILTERING — 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029200" cy="4572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37E"/>
                </a:solidFill>
                <a:latin typeface="Cambria Math"/>
              </a:defRPr>
            </a:pPr>
            <a:r>
              <a:t>x_filtered[k] = 0.3·x_raw[k] + 0.7·x_filtered[k−1]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Calibri"/>
              </a:defRPr>
            </a:pPr>
            <a:r>
              <a:t>• Filter α = 0.3 reduces noise spikes by ~65%</a:t>
            </a:r>
            <a:br/>
            <a:r>
              <a:t>• Keeps lag below one sample period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ANTI-WINDUP CLAMPING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60320"/>
            <a:ext cx="5029200" cy="73152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C7832"/>
                </a:solidFill>
                <a:latin typeface="Consolas"/>
              </a:defRPr>
            </a:pPr>
            <a:r>
              <a:t>// Conditional Anti-Windup Clamp</a:t>
            </a:r>
          </a:p>
          <a:p>
            <a:pPr>
              <a:spcBef>
                <a:spcPts val="200"/>
              </a:spcBef>
              <a:defRPr sz="1000">
                <a:solidFill>
                  <a:srgbClr val="FFFFFF"/>
                </a:solidFill>
                <a:latin typeface="Consolas"/>
              </a:defRPr>
            </a:pPr>
            <a:r>
              <a:t>if (abs(pidOutput) &gt; maxOutput) {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    integral -= error;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Calibri"/>
              </a:defRPr>
            </a:pPr>
            <a:r>
              <a:t>Prevents saturation during large setpoint changes. Without it: &gt;40% overshoot.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033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SERVO SMOOTHING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77639"/>
            <a:ext cx="5029200" cy="45720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smoothAngle = currentAngle + (servoAngle−currentAngle) × 0.2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Calibri"/>
              </a:defRPr>
            </a:pPr>
            <a:r>
              <a:t>CRITICAL for low-friction systems — prevents mechanical jitter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0515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SAFETY 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32588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Servo angle clamped to 70°–110° (±20° from neutral 90°)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Integral term clamped to ±200 to prevent runaway accumulation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Fixed 20 ms sample period for consistent PID timing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Serial CSV output for real-time plotting &amp; debugging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3317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CODE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60604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1. Sensor Reading &amp; EMA Filtering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2. Error Calculation (Setpoint − Filtered Sensor)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3. Integral Term with Anti-Windup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4. Derivative Term (Error − Previous Error)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5. PID Computation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6. Output Smoothing (EMA on PID output)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7. Servo Angle Computation + Safety Clamping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8. Smooth Servo Movement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9. State Update &amp; Serial Logging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Design Lab 2 |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Circuit Diagram &amp; Wiring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G_88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24301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8640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66666"/>
                </a:solidFill>
                <a:latin typeface="Calibri"/>
              </a:defRPr>
            </a:pPr>
            <a:r>
              <a:t>Fig. 2: Arduino-Servo-IR Sensor Wiring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0515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WIRING CONNECTIONS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0" y="1325880"/>
          <a:ext cx="5760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513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Arduino Pin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Connection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13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Sharp IR VCC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Power supply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13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Sharp IR 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Ground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13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Sharp IR Signal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Analog input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13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SG90 VCC (Red)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Power supply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13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SG90 GND (Brown)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GND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Ground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13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SG90 Signal (Orange)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Digital Pin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PWM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0" y="3108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POWER CONSIDERATIONS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38328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Arduino USB provides 5V / 500mA — sufficient for SG90 + IR sensor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SG90 stall current: ~650mA — avoid rapid full-range movements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For larger servos: use external 5V supply with common ground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IR sensor output: 0–3.1V (safe within Arduino 0–5V ADC range)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3891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33333"/>
                </a:solidFill>
                <a:latin typeface="Calibri"/>
              </a:defRPr>
            </a:pPr>
            <a:r>
              <a:t>Wire Color Code:</a:t>
            </a:r>
          </a:p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  <a:latin typeface="Calibri"/>
              </a:defRPr>
            </a:pPr>
            <a:r>
              <a:t>Red = VCC (+5V)  |  Black/Brown = GND  |  Yellow/Orange =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Design Lab 2 |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Results &amp; Performance Plots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11247120" cy="457200"/>
          </a:xfrm>
          <a:prstGeom prst="roundRect">
            <a:avLst/>
          </a:prstGeom>
          <a:solidFill>
            <a:srgbClr val="E8F8E8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8A745"/>
                </a:solidFill>
                <a:latin typeface="Calibri"/>
              </a:defRPr>
            </a:pPr>
            <a:r>
              <a:t>ALL TARGETS MET  |  Rise Time: 0.72 s  |  Peak Overshoot: 7.4%  |  Settling Time: 1.48 s  |  Steady-State Error: &lt; 0.3 cm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3566160" cy="21945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7A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99999"/>
                </a:solidFill>
                <a:latin typeface="Calibri"/>
              </a:defRPr>
            </a:pPr>
            <a:r>
              <a:t>[INSERT PLOT]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237E"/>
                </a:solidFill>
                <a:latin typeface="Calibri"/>
              </a:defRPr>
            </a:pPr>
            <a:r>
              <a:t>PLOT 1: STEP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605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Calibri"/>
              </a:defRPr>
            </a:pPr>
            <a:r>
              <a:t>Setpoint: 30 cm → 20 cm</a:t>
            </a:r>
            <a:br/>
            <a:r>
              <a:t>Smooth approach, minimal overshoot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645920"/>
            <a:ext cx="3566160" cy="21945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7A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23774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99999"/>
                </a:solidFill>
                <a:latin typeface="Calibri"/>
              </a:defRPr>
            </a:pPr>
            <a:r>
              <a:t>[INSERT PLOT]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93192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237E"/>
                </a:solidFill>
                <a:latin typeface="Calibri"/>
              </a:defRPr>
            </a:pPr>
            <a:r>
              <a:t>PLOT 2: DISTURBANCE REJECTION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1605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Calibri"/>
              </a:defRPr>
            </a:pPr>
            <a:r>
              <a:t>Impulse at t = 3 s</a:t>
            </a:r>
            <a:br/>
            <a:r>
              <a:t>Recovery: 0.95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645920"/>
            <a:ext cx="3566160" cy="21945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7A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59" y="23774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99999"/>
                </a:solidFill>
                <a:latin typeface="Calibri"/>
              </a:defRPr>
            </a:pPr>
            <a:r>
              <a:t>[INSERT PLOT]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93192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237E"/>
                </a:solidFill>
                <a:latin typeface="Calibri"/>
              </a:defRPr>
            </a:pPr>
            <a:r>
              <a:t>PLOT 3: SERVO ANGLE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1605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Calibri"/>
              </a:defRPr>
            </a:pPr>
            <a:r>
              <a:t>Anti-windup keeps angle within ±20°</a:t>
            </a:r>
            <a:br/>
            <a:r>
              <a:t>No saturation overshoot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029200"/>
            <a:ext cx="11247120" cy="36576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56E04"/>
                </a:solidFill>
                <a:latin typeface="Calibri"/>
              </a:defRPr>
            </a:pPr>
            <a:r>
              <a:t>Step response validates tracking, disturbance rejection proves robustness, servo angle plot confirms anti-windup effectiveness.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Design Lab 2 |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Hardware vs. Simulation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PERFORMANCE GAP ANALYSIS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73152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Simulation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Settling Time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1.22 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1.48 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~20% slower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Overshoot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+2.2%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Steady-State Error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cm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&lt; 0.3 cm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Small offset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4688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SOURCES OF DISCREPANCY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Sensor Lag: Sharp IR has ~39 ms response time vs. ideal instantaneous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Servo Deadband: SG90 ±1° deadband causes limit-cycle jitter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Mechanical Backlash: ~±1° linkage backlash introduces oscillation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Sensor Noise: IR reflections cause spurious spikes (~5% of readings)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Gravity Non-Linearity: Small-angle approx. breaks at α &gt; 20° (~3% error)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MITIGATION STRATEGIES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976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EMA filter (α = 0.3) reduces noise by ~65%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Software dead-band (±0.5 cm) compensates for backlash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Anti-windup clamp prevents saturation overshoot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Servo smoothing (0.2 factor) reduces jitter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468880"/>
            <a:ext cx="4389120" cy="219456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79" y="260604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237E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926080"/>
            <a:ext cx="4023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  <a:latin typeface="Calibri"/>
              </a:defRPr>
            </a:pPr>
            <a:r>
              <a:t>The ~20% performance gap is typical in hardware. Simulation assumes ideal sensors/actuators; real systems have lag, deadband, and backlash. Our filtering and clamping strategies successfully mitigate these non-idealities.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Design Lab 2 |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Challenges &amp;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1124712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237E"/>
                </a:solidFill>
                <a:latin typeface="Calibri"/>
              </a:defRPr>
            </a:pPr>
            <a:r>
              <a:t>Challenge 1: Sensor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9304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392B"/>
                </a:solidFill>
                <a:latin typeface="Calibri"/>
              </a:defRPr>
            </a:pPr>
            <a:r>
              <a:t>Problem: IR sensor produced erroneous spikes from beam edge reflections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289304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8A745"/>
                </a:solidFill>
                <a:latin typeface="Calibri"/>
              </a:defRPr>
            </a:pPr>
            <a:r>
              <a:t>Solution: EMA filter (α = 0.3) — reduces noise by ~65%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20239"/>
            <a:ext cx="1124712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47671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237E"/>
                </a:solidFill>
                <a:latin typeface="Calibri"/>
              </a:defRPr>
            </a:pPr>
            <a:r>
              <a:t>Challenge 2: Integral Windup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57983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392B"/>
                </a:solidFill>
                <a:latin typeface="Calibri"/>
              </a:defRPr>
            </a:pPr>
            <a:r>
              <a:t>Problem: Large setpoint steps caused &gt;40% overshoot from integral accumulation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157983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8A745"/>
                </a:solidFill>
                <a:latin typeface="Calibri"/>
              </a:defRPr>
            </a:pPr>
            <a:r>
              <a:t>Solution: Conditional clamp — undo last integral increment when saturated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88920"/>
            <a:ext cx="1124712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816351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237E"/>
                </a:solidFill>
                <a:latin typeface="Calibri"/>
              </a:defRPr>
            </a:pPr>
            <a:r>
              <a:t>Challenge 3: Mechanical Backlash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26663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392B"/>
                </a:solidFill>
                <a:latin typeface="Calibri"/>
              </a:defRPr>
            </a:pPr>
            <a:r>
              <a:t>Problem: ±1° linkage backlash caused ±0.5 cm steady-state jitter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26663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8A745"/>
                </a:solidFill>
                <a:latin typeface="Calibri"/>
              </a:defRPr>
            </a:pPr>
            <a:r>
              <a:t>Solution: Software error dead-band of 0.5 cm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1124712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68503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237E"/>
                </a:solidFill>
                <a:latin typeface="Calibri"/>
              </a:defRPr>
            </a:pPr>
            <a:r>
              <a:t>Challenge 4: Gravity Non-Linearity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95344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392B"/>
                </a:solidFill>
                <a:latin typeface="Calibri"/>
              </a:defRPr>
            </a:pPr>
            <a:r>
              <a:t>Problem: Small-angle approx. introduces ~3% error at α &gt; 20°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95344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8A745"/>
                </a:solidFill>
                <a:latin typeface="Calibri"/>
              </a:defRPr>
            </a:pPr>
            <a:r>
              <a:t>Solution: Limit servo to ±20°; future: gain scheduling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26280"/>
            <a:ext cx="1124712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55371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237E"/>
                </a:solidFill>
                <a:latin typeface="Calibri"/>
              </a:defRPr>
            </a:pPr>
            <a:r>
              <a:t>Challenge 5: Servo Jitter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64024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392B"/>
                </a:solidFill>
                <a:latin typeface="Calibri"/>
              </a:defRPr>
            </a:pPr>
            <a:r>
              <a:t>Problem: Rapid PWM changes caused mechanical vibration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764024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8A745"/>
                </a:solidFill>
                <a:latin typeface="Calibri"/>
              </a:defRPr>
            </a:pPr>
            <a:r>
              <a:t>Solution: Servo smoothing with 0.2 interpolation factor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989320"/>
            <a:ext cx="11247120" cy="320040"/>
          </a:xfrm>
          <a:prstGeom prst="roundRect">
            <a:avLst/>
          </a:prstGeom>
          <a:solidFill>
            <a:srgbClr val="FFF3CD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603504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56E04"/>
                </a:solidFill>
                <a:latin typeface="Calibri"/>
              </a:defRPr>
            </a:pPr>
            <a:r>
              <a:t>These challenges represent the reality of control systems engineering — textbook PID needs significant practical modifications for real hardware.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Design Lab 2 |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Team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Member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Roll No.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Primary Contributions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Pooja Pachhar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2023MEB1367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System modelling, Lagrangian derivation, mathematical analysis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Prabhreet Kaur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2023MEB1368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Hardware assembly, servo linkage design, mechanical calibration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Priyansh Gupta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2023MEB1369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PID implementation, serial logging, code documentation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Priyanshu 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2023MEB1370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Step-response data collection, plotting, performance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Rahil Gupta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2023MEB1371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Arduino programming, report compilation, presentation design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3566160"/>
            <a:ext cx="11247120" cy="36576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A237E"/>
                </a:solidFill>
                <a:latin typeface="Calibri"/>
              </a:defRPr>
            </a:pPr>
            <a:r>
              <a:t>The project required a blend of theoretical modelling, mechanical fabrication, software development, and experimental validation.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Design Lab 2 |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The PID closed-loop system successfully stabilized the double-integrating plant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Derivative term was critical for damping oscillations and ensuring stability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Anti-windup protection essential for managing large setpoint changes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All design targets met with conservative, stable tuning strategy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~20% performance gap between simulation and hardware is typical and well-explained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KEY LESSONS LEARNED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Proportional term initiates corrective action but must be balanced against oscillation risk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Integral term eliminates steady-state error but risks windup without proper clamping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Derivative term provides damping but amplifies sensor noise — filtering is mandatory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Real-world control requires going beyond textbook algorithms to handle non-idealities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FUTURE IMPROVEMENTS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886200"/>
          <a:ext cx="112471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Expected Benefit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Kalman Filter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Optimal state estimation; better noise rejection than EMA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Cascade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Inner velocity loop for faster disturbance rejection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Model-Based Feedforward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Improved tracking for large setpoint transients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Gain Scheduling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Compensate for gravity non-linearity at large angles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57200" y="5212080"/>
            <a:ext cx="11247120" cy="365760"/>
          </a:xfrm>
          <a:prstGeom prst="roundRect">
            <a:avLst/>
          </a:prstGeom>
          <a:solidFill>
            <a:srgbClr val="E8F8E8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25780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8A745"/>
                </a:solidFill>
                <a:latin typeface="Calibri"/>
              </a:defRPr>
            </a:pPr>
            <a:r>
              <a:t>This project provided full end-to-end exposure — from mathematical modelling and simulation to hardware implementation and experimental validation.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Design Lab 2 |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Bill of Materials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73152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Qty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Unit Cost (₹)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 (₹)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Arduino Uno R3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Servo Motor (SG90)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Sharp IR Sensor (GP2Y0A21)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Acrylite Channel (60 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Ping Pong Ball (25 mm)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Base &amp; Pivot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Connecting Rods &amp; Hardware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Jumper Wires &amp; Miscellaneous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₹ 1,210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11887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PROJECT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4630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Total cost under ₹1,250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All components readily available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Reproducible educational platform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Ideal for control theory labs</a:t>
            </a:r>
          </a:p>
        </p:txBody>
      </p:sp>
      <p:pic>
        <p:nvPicPr>
          <p:cNvPr id="8" name="Picture 7" descr="WhatsApp Image 2026-05-01 at 19.21.4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468880"/>
            <a:ext cx="3657600" cy="21236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49377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66666"/>
                </a:solidFill>
                <a:latin typeface="Calibri"/>
              </a:defRPr>
            </a:pPr>
            <a:r>
              <a:t>Fig: Final Hardware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Design Lab 2 |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References &amp; Acknowledgements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[1] Ogata, K. Modern Control Engineering, 5th Ed., Pearson, 2010.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[2] Franklin, G.F., Powell, J.D., Emami-Naeini, A. Feedback Control of Dynamic Systems, 7th Ed., Pearson, 2015.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[3] Sharp Corporation. GP2Y0A21YK0F Datasheet — Distance Measuring Sensor Unit.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[4] Arduino Reference — Servo Library &amp; Analog Input Documentation.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[5] Ziegler, J.G. &amp; Nichols, N.B. "Optimum Settings for Automatic Controllers." Trans. ASME, 1942.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ACKNOWLEDGEMENTS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Dr. S.S. Padhee — Course Instructor, Design Lab 2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Department of Mechanical Engineering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Lab technicians for fabrication support and equipment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74720"/>
            <a:ext cx="11247120" cy="11887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  <a:p>
            <a:pPr algn="ctr">
              <a:spcBef>
                <a:spcPts val="1000"/>
              </a:spcBef>
              <a:defRPr sz="1800">
                <a:solidFill>
                  <a:srgbClr val="007ACC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Design Lab 2 |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Appendix — Arduino Source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051560"/>
            <a:ext cx="11612880" cy="50292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00">
                <a:solidFill>
                  <a:srgbClr val="6A9955"/>
                </a:solidFill>
                <a:latin typeface="Consolas"/>
              </a:defRPr>
            </a:pPr>
            <a:r>
              <a:t>// ================================================================</a:t>
            </a:r>
          </a:p>
          <a:p>
            <a:pPr>
              <a:spcAft>
                <a:spcPts val="0"/>
              </a:spcAft>
              <a:defRPr sz="800">
                <a:solidFill>
                  <a:srgbClr val="6A9955"/>
                </a:solidFill>
                <a:latin typeface="Consolas"/>
              </a:defRPr>
            </a:pPr>
            <a:r>
              <a:t>// PID Ball Balancer — Design Lab 2</a:t>
            </a:r>
          </a:p>
          <a:p>
            <a:pPr>
              <a:spcAft>
                <a:spcPts val="0"/>
              </a:spcAft>
              <a:defRPr sz="800">
                <a:solidFill>
                  <a:srgbClr val="6A9955"/>
                </a:solidFill>
                <a:latin typeface="Consolas"/>
              </a:defRPr>
            </a:pPr>
            <a:r>
              <a:t>// Hardware: Arduino Uno, SG90 Servo, Sharp GP2Y0A21 IR Sensor</a:t>
            </a:r>
          </a:p>
          <a:p>
            <a:pPr>
              <a:spcAft>
                <a:spcPts val="0"/>
              </a:spcAft>
              <a:defRPr sz="800">
                <a:solidFill>
                  <a:srgbClr val="6A9955"/>
                </a:solidFill>
                <a:latin typeface="Consolas"/>
              </a:defRPr>
            </a:pPr>
            <a:r>
              <a:t>// ================================================================</a:t>
            </a:r>
          </a:p>
          <a:p>
            <a:pPr>
              <a:spcAft>
                <a:spcPts val="0"/>
              </a:spcAft>
              <a:defRPr sz="800">
                <a:solidFill>
                  <a:srgbClr val="CC7832"/>
                </a:solidFill>
                <a:latin typeface="Consolas"/>
              </a:defRPr>
            </a:pPr>
            <a:r>
              <a:t>#include &lt;Servo.h&gt;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Servo myServo;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const int sensorPin = A0;      // Sharp IR sensor analog input</a:t>
            </a:r>
          </a:p>
          <a:p>
            <a:pPr>
              <a:spcAft>
                <a:spcPts val="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const int servoPin  = 9;       // Servo PWM output</a:t>
            </a:r>
          </a:p>
          <a:p>
            <a:pPr>
              <a:spcAft>
                <a:spcPts val="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int setpoint = 120;            // Desired position (raw ADC units)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800">
                <a:solidFill>
                  <a:srgbClr val="6A9955"/>
                </a:solidFill>
                <a:latin typeface="Consolas"/>
              </a:defRPr>
            </a:pPr>
            <a:r>
              <a:t>// PID Gains (Final Tuned: ZN + Manual Refinement)</a:t>
            </a:r>
          </a:p>
          <a:p>
            <a:pPr>
              <a:spcAft>
                <a:spcPts val="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float Kp = 0.15;    float Ki = 0.001;    float Kd = 4.0;</a:t>
            </a:r>
          </a:p>
          <a:p>
            <a:pPr>
              <a:spcAft>
                <a:spcPts val="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float error = 0, previousError = 0, integral = 0, derivative = 0;</a:t>
            </a:r>
          </a:p>
          <a:p>
            <a:pPr>
              <a:spcAft>
                <a:spcPts val="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float pidOutput = 0, rawOutput = 0;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800">
                <a:solidFill>
                  <a:srgbClr val="6A9955"/>
                </a:solidFill>
                <a:latin typeface="Consolas"/>
              </a:defRPr>
            </a:pPr>
            <a:r>
              <a:t>// Filter &amp; Constraints</a:t>
            </a:r>
          </a:p>
          <a:p>
            <a:pPr>
              <a:spcAft>
                <a:spcPts val="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const float EMA_ALPHA = 0.3;</a:t>
            </a:r>
          </a:p>
          <a:p>
            <a:pPr>
              <a:spcAft>
                <a:spcPts val="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const int INTEGRAL_MAX = 200, INTEGRAL_MIN = -200;</a:t>
            </a:r>
          </a:p>
          <a:p>
            <a:pPr>
              <a:spcAft>
                <a:spcPts val="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const int SERVO_MIN = 70, SERVO_MAX = 110, SERVO_NEUTRAL = 90;</a:t>
            </a:r>
          </a:p>
          <a:p>
            <a:pPr>
              <a:spcAft>
                <a:spcPts val="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const float SMOOTHING_FACTOR = 0.2;</a:t>
            </a:r>
          </a:p>
          <a:p>
            <a:pPr>
              <a:spcAft>
                <a:spcPts val="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const unsigned long SAMPLE_PERIOD_MS = 20;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float filteredSensor = 0;</a:t>
            </a:r>
          </a:p>
          <a:p>
            <a:pPr>
              <a:spcAft>
                <a:spcPts val="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unsigned long lastTime = 0;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void setup() {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  Serial.begin(9600);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  myServo.attach(servoPin);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  myServo.write(SERVO_NEUTRAL);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  delay(2000);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  filteredSensor = analogRead(sensorPin);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void loop() {</a:t>
            </a:r>
          </a:p>
          <a:p>
            <a:pPr>
              <a:spcAft>
                <a:spcPts val="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  unsigned long currentTime = millis();</a:t>
            </a:r>
          </a:p>
          <a:p>
            <a:pPr>
              <a:spcAft>
                <a:spcPts val="0"/>
              </a:spcAft>
              <a:defRPr sz="800">
                <a:solidFill>
                  <a:srgbClr val="C586C0"/>
                </a:solidFill>
                <a:latin typeface="Consolas"/>
              </a:defRPr>
            </a:pPr>
            <a:r>
              <a:t>  if (currentTime - lastTime &gt;= SAMPLE_PERIOD_MS) {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    lastTime = currentTime;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800">
                <a:solidFill>
                  <a:srgbClr val="6A9955"/>
                </a:solidFill>
                <a:latin typeface="Consolas"/>
              </a:defRPr>
            </a:pPr>
            <a:r>
              <a:t>    // 1. SENSOR READING &amp; EMA FILTERING</a:t>
            </a:r>
          </a:p>
          <a:p>
            <a:pPr>
              <a:spcAft>
                <a:spcPts val="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    int rawSensor = analogRead(sensorPin);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    filteredSensor = EMA_ALPHA * rawSensor + (1.0 - EMA_ALPHA) * filteredSensor;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800">
                <a:solidFill>
                  <a:srgbClr val="6A9955"/>
                </a:solidFill>
                <a:latin typeface="Consolas"/>
              </a:defRPr>
            </a:pPr>
            <a:r>
              <a:t>    // 2. ERROR CALCULATION</a:t>
            </a:r>
          </a:p>
          <a:p>
            <a:pPr>
              <a:spcAft>
                <a:spcPts val="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    error = setpoint - filteredSensor;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800">
                <a:solidFill>
                  <a:srgbClr val="6A9955"/>
                </a:solidFill>
                <a:latin typeface="Consolas"/>
              </a:defRPr>
            </a:pPr>
            <a:r>
              <a:t>    // 3. INTEGRAL WITH ANTI-WINDUP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    integral += error;</a:t>
            </a:r>
          </a:p>
          <a:p>
            <a:pPr>
              <a:spcAft>
                <a:spcPts val="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    float testOutput = (Kp*error) + (Ki*integral) + (Kd*(error-previousError));</a:t>
            </a:r>
          </a:p>
          <a:p>
            <a:pPr>
              <a:spcAft>
                <a:spcPts val="0"/>
              </a:spcAft>
              <a:defRPr sz="800">
                <a:solidFill>
                  <a:srgbClr val="C586C0"/>
                </a:solidFill>
                <a:latin typeface="Consolas"/>
              </a:defRPr>
            </a:pPr>
            <a:r>
              <a:t>    if (testOutput &gt; (SERVO_MAX-SERVO_NEUTRAL) || testOutput &lt; (SERVO_MIN-SERVO_NEUTRAL))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      integral -= error;  // Undo last accumulation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    integral = constrain(integral, INTEGRAL_MIN, INTEGRAL_MAX);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800">
                <a:solidFill>
                  <a:srgbClr val="6A9955"/>
                </a:solidFill>
                <a:latin typeface="Consolas"/>
              </a:defRPr>
            </a:pPr>
            <a:r>
              <a:t>    // 4. DERIVATIVE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    derivative = error - previousError;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800">
                <a:solidFill>
                  <a:srgbClr val="6A9955"/>
                </a:solidFill>
                <a:latin typeface="Consolas"/>
              </a:defRPr>
            </a:pPr>
            <a:r>
              <a:t>    // 5. PID COMPUTATION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    rawOutput = (Kp*error) + (Ki*integral) + (Kd*derivative);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800">
                <a:solidFill>
                  <a:srgbClr val="6A9955"/>
                </a:solidFill>
                <a:latin typeface="Consolas"/>
              </a:defRPr>
            </a:pPr>
            <a:r>
              <a:t>    // 6. OUTPUT SMOOTHING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    pidOutput = 0.7 * pidOutput + 0.3 * rawOutput;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800">
                <a:solidFill>
                  <a:srgbClr val="6A9955"/>
                </a:solidFill>
                <a:latin typeface="Consolas"/>
              </a:defRPr>
            </a:pPr>
            <a:r>
              <a:t>    // 7. SERVO ANGLE + SAFETY CLAMP</a:t>
            </a:r>
          </a:p>
          <a:p>
            <a:pPr>
              <a:spcAft>
                <a:spcPts val="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    int servoAngle = SERVO_NEUTRAL + (int)pidOutput;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    servoAngle = constrain(servoAngle, SERVO_MIN, SERVO_MAX);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800">
                <a:solidFill>
                  <a:srgbClr val="6A9955"/>
                </a:solidFill>
                <a:latin typeface="Consolas"/>
              </a:defRPr>
            </a:pPr>
            <a:r>
              <a:t>    // 8. SMOOTH SERVO MOVEMENT</a:t>
            </a:r>
          </a:p>
          <a:p>
            <a:pPr>
              <a:spcAft>
                <a:spcPts val="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    int currentAngle = myServo.read();</a:t>
            </a:r>
          </a:p>
          <a:p>
            <a:pPr>
              <a:spcAft>
                <a:spcPts val="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    int smoothAngle = currentAngle + (int)((servoAngle - currentAngle) * SMOOTHING_FACTOR);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    myServo.write(smoothAngle);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800">
                <a:solidFill>
                  <a:srgbClr val="6A9955"/>
                </a:solidFill>
                <a:latin typeface="Consolas"/>
              </a:defRPr>
            </a:pPr>
            <a:r>
              <a:t>    // 9. UPDATE STATE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    previousError = error;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800">
                <a:solidFill>
                  <a:srgbClr val="6A9955"/>
                </a:solidFill>
                <a:latin typeface="Consolas"/>
              </a:defRPr>
            </a:pPr>
            <a:r>
              <a:t>    // 10. SERIAL LOGGING (CSV format)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    Serial.print(currentTime); Serial.print(",");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    Serial.print(rawSensor); Serial.print(",");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    Serial.print((int)filteredSensor); Serial.print(",");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    Serial.print(error); Serial.print(",");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    Serial.print(integral); Serial.print(",");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    Serial.print(pidOutput); Serial.print(",");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    Serial.println(smoothAngle);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8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Design Lab 2 |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b15078d2-26c9-4333-acfc-0e8484f0e6f2}" enabled="1" method="Standard" siteId="{b31a5d86-6dda-4457-85e5-c55bbc07923d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2815</Words>
  <Application>Microsoft Office PowerPoint</Application>
  <PresentationFormat>Widescreen</PresentationFormat>
  <Paragraphs>428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Pooja Pachar</dc:creator>
  <cp:keywords/>
  <dc:description>generated using python-pptx</dc:description>
  <cp:lastModifiedBy>Pooja Pachar</cp:lastModifiedBy>
  <cp:revision>1</cp:revision>
  <dcterms:created xsi:type="dcterms:W3CDTF">2013-01-27T09:14:16Z</dcterms:created>
  <dcterms:modified xsi:type="dcterms:W3CDTF">2026-10-16T11:40:49Z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Cummins Internal Use Only</vt:lpwstr>
  </property>
</Properties>
</file>